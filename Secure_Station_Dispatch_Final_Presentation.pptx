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389CF7"/>
                </a:solidFill>
              </a:defRPr>
            </a:pPr>
            <a:r>
              <a:t>SECURE STATION DISPATCH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8B8"/>
                </a:solidFill>
              </a:defRPr>
            </a:pPr>
            <a:r>
              <a:t>ArUco-Driven AMR Station Identification, HMAC Security &amp; Gazebo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Amin Ahmed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8B8"/>
                </a:solidFill>
              </a:defRPr>
            </a:pPr>
            <a:r>
              <a:t>B.E. Robotics &amp; Automation Engineering  |  Anna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8B8"/>
                </a:solidFill>
              </a:defRPr>
            </a:pPr>
            <a:r>
              <a:t>ROS 2 Jazzy  |  Gazebo Sim (Harmonic)  |  OpenCV 4.7+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9CF7"/>
                </a:solidFill>
              </a:defRPr>
            </a:pPr>
            <a: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Build a complete AMR dispatch system: a robot tours an industrial facility, reads ArUco markers at 4 stations, authenticates each detection with HMAC-SHA256, and executes station-specific tasks via ROS 2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</a:p>
          <a:p>
            <a:pPr>
              <a:defRPr sz="1800" b="1">
                <a:solidFill>
                  <a:srgbClr val="389CF7"/>
                </a:solidFill>
              </a:defRPr>
            </a:pPr>
            <a:r>
              <a:t>Phase 1 -- Dispatch Pipeline</a:t>
            </a:r>
          </a:p>
          <a:p>
            <a:pPr>
              <a:defRPr sz="1400" b="0">
                <a:solidFill>
                  <a:srgbClr val="A0A8B8"/>
                </a:solidFill>
              </a:defRPr>
            </a:pPr>
            <a:r>
              <a:t>ArUco detection -&gt; state machine -&gt; action-based task execution with JSONL logging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</a:p>
          <a:p>
            <a:pPr>
              <a:defRPr sz="1800" b="1">
                <a:solidFill>
                  <a:srgbClr val="389CF7"/>
                </a:solidFill>
              </a:defRPr>
            </a:pPr>
            <a:r>
              <a:t>Phase 2 -- Security Hardening</a:t>
            </a:r>
          </a:p>
          <a:p>
            <a:pPr>
              <a:defRPr sz="1400" b="0">
                <a:solidFill>
                  <a:srgbClr val="A0A8B8"/>
                </a:solidFill>
              </a:defRPr>
            </a:pPr>
            <a:r>
              <a:t>HMAC-SHA256 authentication + pose consistency, with 2 working attack demos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</a:p>
          <a:p>
            <a:pPr>
              <a:defRPr sz="1800" b="1">
                <a:solidFill>
                  <a:srgbClr val="389CF7"/>
                </a:solidFill>
              </a:defRPr>
            </a:pPr>
            <a:r>
              <a:t>Phase 3 -- Gazebo Simulation</a:t>
            </a:r>
          </a:p>
          <a:p>
            <a:pPr>
              <a:defRPr sz="1400" b="0">
                <a:solidFill>
                  <a:srgbClr val="A0A8B8"/>
                </a:solidFill>
              </a:defRPr>
            </a:pPr>
            <a:r>
              <a:t>Generated facility, diff-drive AMR, A* planner, stall watchdog,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7432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</a:p>
          <a:p>
            <a:pPr>
              <a:defRPr sz="2000" b="1">
                <a:solidFill>
                  <a:srgbClr val="389CF7"/>
                </a:solidFill>
              </a:defRPr>
            </a:pPr>
            <a:r>
              <a:t>Tech Stack</a:t>
            </a:r>
          </a:p>
          <a:p>
            <a:pPr>
              <a:defRPr sz="1400" b="0">
                <a:solidFill>
                  <a:srgbClr val="FFFFFF"/>
                </a:solidFill>
              </a:defRPr>
            </a:pPr>
            <a:r>
              <a:t>  ROS 2 Jazzy (Python 3.12)</a:t>
            </a:r>
          </a:p>
          <a:p>
            <a:pPr>
              <a:defRPr sz="1400" b="0">
                <a:solidFill>
                  <a:srgbClr val="FFFFFF"/>
                </a:solidFill>
              </a:defRPr>
            </a:pPr>
            <a:r>
              <a:t>  Gazebo Sim (Harmonic, Ogre2)</a:t>
            </a:r>
          </a:p>
          <a:p>
            <a:pPr>
              <a:defRPr sz="1400" b="0">
                <a:solidFill>
                  <a:srgbClr val="FFFFFF"/>
                </a:solidFill>
              </a:defRPr>
            </a:pPr>
            <a:r>
              <a:t>  OpenCV cv2.aruco (DICT_4X4_50)</a:t>
            </a:r>
          </a:p>
          <a:p>
            <a:pPr>
              <a:defRPr sz="1400" b="0">
                <a:solidFill>
                  <a:srgbClr val="FFFFFF"/>
                </a:solidFill>
              </a:defRPr>
            </a:pPr>
            <a:r>
              <a:t>  HMAC-SHA256 (hashlib)</a:t>
            </a:r>
          </a:p>
          <a:p>
            <a:pPr>
              <a:defRPr sz="1400" b="0">
                <a:solidFill>
                  <a:srgbClr val="FFFFFF"/>
                </a:solidFill>
              </a:defRPr>
            </a:pPr>
            <a:r>
              <a:t>  Custom A* path planner</a:t>
            </a:r>
          </a:p>
          <a:p>
            <a:pPr>
              <a:defRPr sz="1400" b="0">
                <a:solidFill>
                  <a:srgbClr val="FFFFFF"/>
                </a:solidFill>
              </a:defRPr>
            </a:pPr>
            <a:r>
              <a:t>  YAML single source of truth</a:t>
            </a:r>
          </a:p>
          <a:p>
            <a:pPr>
              <a:defRPr sz="1400" b="0">
                <a:solidFill>
                  <a:srgbClr val="FFFFFF"/>
                </a:solidFill>
              </a:defRPr>
            </a:pPr>
            <a:r>
              <a:t>  JSONL event logging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9CF7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>
              <a:defRPr sz="1600" b="1">
                <a:solidFill>
                  <a:srgbClr val="389CF7"/>
                </a:solidFill>
              </a:defRPr>
            </a:pPr>
            <a:r>
              <a:t>marker_detector_node</a:t>
            </a:r>
          </a:p>
          <a:p>
            <a:pPr>
              <a:defRPr sz="1300" b="0">
                <a:solidFill>
                  <a:srgbClr val="A0A8B8"/>
                </a:solidFill>
              </a:defRPr>
            </a:pPr>
            <a:r>
              <a:t>Camera -&gt; ArUco DICT_4X4_50 -&gt; HMAC sign -&gt; StationMarker</a:t>
            </a:r>
          </a:p>
          <a:p>
            <a:pPr>
              <a:defRPr sz="800" b="0">
                <a:solidFill>
                  <a:srgbClr val="FFFFFF"/>
                </a:solidFill>
              </a:defRPr>
            </a:pPr>
          </a:p>
          <a:p>
            <a:pPr>
              <a:defRPr sz="1600" b="1">
                <a:solidFill>
                  <a:srgbClr val="389CF7"/>
                </a:solidFill>
              </a:defRPr>
            </a:pPr>
            <a:r>
              <a:t>dispatcher_node</a:t>
            </a:r>
          </a:p>
          <a:p>
            <a:pPr>
              <a:defRPr sz="1300" b="0">
                <a:solidFill>
                  <a:srgbClr val="A0A8B8"/>
                </a:solidFill>
              </a:defRPr>
            </a:pPr>
            <a:r>
              <a:t>IDLE &lt;-&gt; TASK_IN_PROGRESS state machine</a:t>
            </a:r>
          </a:p>
          <a:p>
            <a:pPr>
              <a:defRPr sz="1300" b="0">
                <a:solidFill>
                  <a:srgbClr val="A0A8B8"/>
                </a:solidFill>
              </a:defRPr>
            </a:pPr>
            <a:r>
              <a:t>verify_hmac() + check_pose() security</a:t>
            </a:r>
          </a:p>
          <a:p>
            <a:pPr>
              <a:defRPr sz="1300" b="0">
                <a:solidFill>
                  <a:srgbClr val="A0A8B8"/>
                </a:solidFill>
              </a:defRPr>
            </a:pPr>
            <a:r>
              <a:t>Per-marker cooldown, JSONL event logging</a:t>
            </a:r>
          </a:p>
          <a:p>
            <a:pPr>
              <a:defRPr sz="800" b="0">
                <a:solidFill>
                  <a:srgbClr val="FFFFFF"/>
                </a:solidFill>
              </a:defRPr>
            </a:pPr>
          </a:p>
          <a:p>
            <a:pPr>
              <a:defRPr sz="1600" b="1">
                <a:solidFill>
                  <a:srgbClr val="389CF7"/>
                </a:solidFill>
              </a:defRPr>
            </a:pPr>
            <a:r>
              <a:t>task_simulator_node</a:t>
            </a:r>
          </a:p>
          <a:p>
            <a:pPr>
              <a:defRPr sz="1300" b="0">
                <a:solidFill>
                  <a:srgbClr val="A0A8B8"/>
                </a:solidFill>
              </a:defRPr>
            </a:pPr>
            <a:r>
              <a:t>ROS 2 action server, 5-step tasks with feedback</a:t>
            </a:r>
          </a:p>
          <a:p>
            <a:pPr>
              <a:defRPr sz="800" b="0">
                <a:solidFill>
                  <a:srgbClr val="FFFFFF"/>
                </a:solidFill>
              </a:defRPr>
            </a:pPr>
          </a:p>
          <a:p>
            <a:pPr>
              <a:defRPr sz="1600" b="1">
                <a:solidFill>
                  <a:srgbClr val="389CF7"/>
                </a:solidFill>
              </a:defRPr>
            </a:pPr>
            <a:r>
              <a:t>waypoint_tour_node</a:t>
            </a:r>
          </a:p>
          <a:p>
            <a:pPr>
              <a:defRPr sz="1300" b="0">
                <a:solidFill>
                  <a:srgbClr val="A0A8B8"/>
                </a:solidFill>
              </a:defRPr>
            </a:pPr>
            <a:r>
              <a:t>A* planner + diff-drive controller + stall watchdog</a:t>
            </a:r>
          </a:p>
          <a:p>
            <a:pPr>
              <a:defRPr sz="1300" b="0">
                <a:solidFill>
                  <a:srgbClr val="A0A8B8"/>
                </a:solidFill>
              </a:defRPr>
            </a:pPr>
            <a:r>
              <a:t>Reads all geometry from station_registry.yaml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>
              <a:defRPr sz="1800" b="1">
                <a:solidFill>
                  <a:srgbClr val="FF9800"/>
                </a:solidFill>
              </a:defRPr>
            </a:pPr>
            <a:r>
              <a:t>Single Source of Truth</a:t>
            </a:r>
          </a:p>
          <a:p>
            <a:pPr>
              <a:defRPr sz="600" b="0">
                <a:solidFill>
                  <a:srgbClr val="FFFFFF"/>
                </a:solidFill>
              </a:defRPr>
            </a:pPr>
          </a:p>
          <a:p>
            <a:pPr>
              <a:defRPr sz="1400" b="0">
                <a:solidFill>
                  <a:srgbClr val="FFFFFF"/>
                </a:solidFill>
              </a:defRPr>
            </a:pPr>
            <a:r>
              <a:t>station_registry.yaml owns all geometry.</a:t>
            </a:r>
          </a:p>
          <a:p>
            <a:pPr>
              <a:defRPr sz="1400" b="0">
                <a:solidFill>
                  <a:srgbClr val="A0A8B8"/>
                </a:solidFill>
              </a:defRPr>
            </a:pPr>
            <a:r>
              <a:t>Everything else reads it or is generated from it:</a:t>
            </a:r>
          </a:p>
          <a:p>
            <a:pPr>
              <a:defRPr sz="800" b="0">
                <a:solidFill>
                  <a:srgbClr val="FFFFFF"/>
                </a:solidFill>
              </a:defRPr>
            </a:pPr>
          </a:p>
          <a:p>
            <a:pPr>
              <a:defRPr sz="1300" b="0">
                <a:solidFill>
                  <a:srgbClr val="FFFFFF"/>
                </a:solidFill>
              </a:defRPr>
            </a:pPr>
            <a:r>
              <a:t>  Gazebo world    &lt;- generate_world.py</a:t>
            </a:r>
          </a:p>
          <a:p>
            <a:pPr>
              <a:defRPr sz="1300" b="0">
                <a:solidFill>
                  <a:srgbClr val="FFFFFF"/>
                </a:solidFill>
              </a:defRPr>
            </a:pPr>
            <a:r>
              <a:t>  Navigation      &lt;- obstacles_from_registry()</a:t>
            </a:r>
          </a:p>
          <a:p>
            <a:pPr>
              <a:defRPr sz="1300" b="0">
                <a:solidFill>
                  <a:srgbClr val="FFFFFF"/>
                </a:solidFill>
              </a:defRPr>
            </a:pPr>
            <a:r>
              <a:t>  Security        &lt;- expected_pose, tolerance</a:t>
            </a:r>
          </a:p>
          <a:p>
            <a:pPr>
              <a:defRPr sz="1300" b="0">
                <a:solidFill>
                  <a:srgbClr val="FFFFFF"/>
                </a:solidFill>
              </a:defRPr>
            </a:pPr>
            <a:r>
              <a:t>  Drift guard     &lt;- check_world_sync.py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</a:p>
          <a:p>
            <a:pPr>
              <a:defRPr sz="1800" b="1">
                <a:solidFill>
                  <a:srgbClr val="FF9800"/>
                </a:solidFill>
              </a:defRPr>
            </a:pPr>
            <a:r>
              <a:t>ROS 2 Topics</a:t>
            </a:r>
          </a:p>
          <a:p>
            <a:pPr>
              <a:defRPr sz="600" b="0">
                <a:solidFill>
                  <a:srgbClr val="FFFFFF"/>
                </a:solidFill>
              </a:defRPr>
            </a:pPr>
          </a:p>
          <a:p>
            <a:pPr>
              <a:defRPr sz="1300" b="0">
                <a:solidFill>
                  <a:srgbClr val="FFFFFF"/>
                </a:solidFill>
              </a:defRPr>
            </a:pPr>
            <a:r>
              <a:t>  /camera/image_raw   Gazebo -&gt; detector</a:t>
            </a:r>
          </a:p>
          <a:p>
            <a:pPr>
              <a:defRPr sz="1300" b="0">
                <a:solidFill>
                  <a:srgbClr val="FFFFFF"/>
                </a:solidFill>
              </a:defRPr>
            </a:pPr>
            <a:r>
              <a:t>  /station_marker     detector -&gt; dispatcher</a:t>
            </a:r>
          </a:p>
          <a:p>
            <a:pPr>
              <a:defRPr sz="1300" b="0">
                <a:solidFill>
                  <a:srgbClr val="FFFFFF"/>
                </a:solidFill>
              </a:defRPr>
            </a:pPr>
            <a:r>
              <a:t>  /station_task       dispatcher -&gt; simulator</a:t>
            </a:r>
          </a:p>
          <a:p>
            <a:pPr>
              <a:defRPr sz="1300" b="0">
                <a:solidFill>
                  <a:srgbClr val="FFFFFF"/>
                </a:solidFill>
              </a:defRPr>
            </a:pPr>
            <a:r>
              <a:t>  /cmd_vel            tour -&gt; Gazebo</a:t>
            </a:r>
          </a:p>
          <a:p>
            <a:pPr>
              <a:defRPr sz="1300" b="0">
                <a:solidFill>
                  <a:srgbClr val="FFFFFF"/>
                </a:solidFill>
              </a:defRPr>
            </a:pPr>
            <a:r>
              <a:t>  /odom               Gazebo -&gt; tour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9CF7"/>
                </a:solidFill>
              </a:defRPr>
            </a:pPr>
            <a:r>
              <a:t>PHASE 1: DISPATCH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>
              <a:defRPr sz="1600" b="1">
                <a:solidFill>
                  <a:srgbClr val="389CF7"/>
                </a:solidFill>
              </a:defRPr>
            </a:pPr>
            <a:r>
              <a:t>StationMarker.msg</a:t>
            </a:r>
          </a:p>
          <a:p>
            <a:pPr>
              <a:defRPr sz="1300" b="0">
                <a:solidFill>
                  <a:srgbClr val="A0A8B8"/>
                </a:solidFill>
              </a:defRPr>
            </a:pPr>
            <a:r>
              <a:t>marker_id, station_name, robot_pose[7],</a:t>
            </a:r>
          </a:p>
          <a:p>
            <a:pPr>
              <a:defRPr sz="1300" b="0">
                <a:solidFill>
                  <a:srgbClr val="A0A8B8"/>
                </a:solidFill>
              </a:defRPr>
            </a:pPr>
            <a:r>
              <a:t>confidence, stamp, hmac_signature</a:t>
            </a:r>
          </a:p>
          <a:p>
            <a:pPr>
              <a:defRPr sz="800" b="0">
                <a:solidFill>
                  <a:srgbClr val="FFFFFF"/>
                </a:solidFill>
              </a:defRPr>
            </a:pPr>
          </a:p>
          <a:p>
            <a:pPr>
              <a:defRPr sz="1600" b="1">
                <a:solidFill>
                  <a:srgbClr val="389CF7"/>
                </a:solidFill>
              </a:defRPr>
            </a:pPr>
            <a:r>
              <a:t>StationTask.action</a:t>
            </a:r>
          </a:p>
          <a:p>
            <a:pPr>
              <a:defRPr sz="1300" b="0">
                <a:solidFill>
                  <a:srgbClr val="A0A8B8"/>
                </a:solidFill>
              </a:defRPr>
            </a:pPr>
            <a:r>
              <a:t>Goal: task_type, station_name</a:t>
            </a:r>
          </a:p>
          <a:p>
            <a:pPr>
              <a:defRPr sz="1300" b="0">
                <a:solidFill>
                  <a:srgbClr val="A0A8B8"/>
                </a:solidFill>
              </a:defRPr>
            </a:pPr>
            <a:r>
              <a:t>Result: success, summary, execution_time</a:t>
            </a:r>
          </a:p>
          <a:p>
            <a:pPr>
              <a:defRPr sz="1300" b="0">
                <a:solidFill>
                  <a:srgbClr val="A0A8B8"/>
                </a:solidFill>
              </a:defRPr>
            </a:pPr>
            <a:r>
              <a:t>Feedback: status, progress</a:t>
            </a:r>
          </a:p>
          <a:p>
            <a:pPr>
              <a:defRPr sz="800" b="0">
                <a:solidFill>
                  <a:srgbClr val="FFFFFF"/>
                </a:solidFill>
              </a:defRPr>
            </a:pPr>
          </a:p>
          <a:p>
            <a:pPr>
              <a:defRPr sz="1600" b="1">
                <a:solidFill>
                  <a:srgbClr val="389CF7"/>
                </a:solidFill>
              </a:defRPr>
            </a:pPr>
            <a:r>
              <a:t>State Machine</a:t>
            </a:r>
          </a:p>
          <a:p>
            <a:pPr>
              <a:defRPr sz="1300" b="0">
                <a:solidFill>
                  <a:srgbClr val="A0A8B8"/>
                </a:solidFill>
              </a:defRPr>
            </a:pPr>
            <a:r>
              <a:t>IDLE -&gt; marker arrives -&gt; TASK_IN_PROGRESS</a:t>
            </a:r>
          </a:p>
          <a:p>
            <a:pPr>
              <a:defRPr sz="1300" b="0">
                <a:solidFill>
                  <a:srgbClr val="A0A8B8"/>
                </a:solidFill>
              </a:defRPr>
            </a:pPr>
            <a:r>
              <a:t>Action result -&gt; log to JSONL -&gt; IDLE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>
              <a:defRPr sz="1800" b="1">
                <a:solidFill>
                  <a:srgbClr val="FF9800"/>
                </a:solidFill>
              </a:defRPr>
            </a:pPr>
            <a:r>
              <a:t>Station Registry</a:t>
            </a:r>
          </a:p>
          <a:p>
            <a:pPr>
              <a:defRPr sz="600" b="0">
                <a:solidFill>
                  <a:srgbClr val="FFFFFF"/>
                </a:solidFill>
              </a:defRPr>
            </a:pPr>
          </a:p>
          <a:p>
            <a:pPr>
              <a:defRPr sz="1400" b="0">
                <a:solidFill>
                  <a:srgbClr val="FFFFFF"/>
                </a:solidFill>
              </a:defRPr>
            </a:pPr>
            <a:r>
              <a:t>  ID 0  Inspection  [1.0, 2.0]  ~3.0s</a:t>
            </a:r>
          </a:p>
          <a:p>
            <a:pPr>
              <a:defRPr sz="1400" b="0">
                <a:solidFill>
                  <a:srgbClr val="FFFFFF"/>
                </a:solidFill>
              </a:defRPr>
            </a:pPr>
            <a:r>
              <a:t>  ID 1  Assembly    [4.5, 1.0]  ~3.5s</a:t>
            </a:r>
          </a:p>
          <a:p>
            <a:pPr>
              <a:defRPr sz="1400" b="0">
                <a:solidFill>
                  <a:srgbClr val="FFFFFF"/>
                </a:solidFill>
              </a:defRPr>
            </a:pPr>
            <a:r>
              <a:t>  ID 2  Storage     [4.5, 5.0]  ~2.7s</a:t>
            </a:r>
          </a:p>
          <a:p>
            <a:pPr>
              <a:defRPr sz="1400" b="0">
                <a:solidFill>
                  <a:srgbClr val="FFFFFF"/>
                </a:solidFill>
              </a:defRPr>
            </a:pPr>
            <a:r>
              <a:t>  ID 3  Charging    [0.5, 5.5]  ~3.5s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</a:p>
          <a:p>
            <a:pPr>
              <a:defRPr sz="1800" b="1">
                <a:solidFill>
                  <a:srgbClr val="4CAF50"/>
                </a:solidFill>
              </a:defRPr>
            </a:pPr>
            <a:r>
              <a:t>Pipeline Test: 4/4 PASS</a:t>
            </a:r>
          </a:p>
          <a:p>
            <a:pPr>
              <a:defRPr sz="600" b="0">
                <a:solidFill>
                  <a:srgbClr val="FFFFFF"/>
                </a:solidFill>
              </a:defRPr>
            </a:pPr>
          </a:p>
          <a:p>
            <a:pPr>
              <a:defRPr sz="1400" b="0">
                <a:solidFill>
                  <a:srgbClr val="FFFFFF"/>
                </a:solidFill>
              </a:defRPr>
            </a:pPr>
            <a:r>
              <a:t>  8 events logged (4 DISPATCHED + 4 COMPLETED)</a:t>
            </a:r>
          </a:p>
          <a:p>
            <a:pPr>
              <a:defRPr sz="1400" b="0">
                <a:solidFill>
                  <a:srgbClr val="A0A8B8"/>
                </a:solidFill>
              </a:defRPr>
            </a:pPr>
            <a:r>
              <a:t>  All markers detected and tasks executed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9CF7"/>
                </a:solidFill>
              </a:defRPr>
            </a:pPr>
            <a:r>
              <a:t>PHASE 2: HMAC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>
              <a:defRPr sz="1800" b="1">
                <a:solidFill>
                  <a:srgbClr val="EF5350"/>
                </a:solidFill>
              </a:defRPr>
            </a:pPr>
            <a:r>
              <a:t>Threat Model</a:t>
            </a:r>
          </a:p>
          <a:p>
            <a:pPr>
              <a:defRPr sz="1400" b="0">
                <a:solidFill>
                  <a:srgbClr val="A0A8B8"/>
                </a:solidFill>
              </a:defRPr>
            </a:pPr>
            <a:r>
              <a:t>A forged ROS message or printed marker could</a:t>
            </a:r>
          </a:p>
          <a:p>
            <a:pPr>
              <a:defRPr sz="1400" b="0">
                <a:solidFill>
                  <a:srgbClr val="A0A8B8"/>
                </a:solidFill>
              </a:defRPr>
            </a:pPr>
            <a:r>
              <a:t>drive a facility robot anywhere.</a:t>
            </a:r>
          </a:p>
          <a:p>
            <a:pPr>
              <a:defRPr sz="800" b="0">
                <a:solidFill>
                  <a:srgbClr val="FFFFFF"/>
                </a:solidFill>
              </a:defRPr>
            </a:pPr>
          </a:p>
          <a:p>
            <a:pPr>
              <a:defRPr sz="1600" b="1">
                <a:solidFill>
                  <a:srgbClr val="389CF7"/>
                </a:solidFill>
              </a:defRPr>
            </a:pPr>
            <a:r>
              <a:t>Mitigation 1: HMAC-SHA256</a:t>
            </a:r>
          </a:p>
          <a:p>
            <a:pPr>
              <a:defRPr sz="1300" b="0">
                <a:solidFill>
                  <a:srgbClr val="A0A8B8"/>
                </a:solidFill>
              </a:defRPr>
            </a:pPr>
            <a:r>
              <a:t>Detector signs each detection with per-station</a:t>
            </a:r>
          </a:p>
          <a:p>
            <a:pPr>
              <a:defRPr sz="1300" b="0">
                <a:solidFill>
                  <a:srgbClr val="A0A8B8"/>
                </a:solidFill>
              </a:defRPr>
            </a:pPr>
            <a:r>
              <a:t>pre-shared key. Dispatcher verifies signature.</a:t>
            </a:r>
          </a:p>
          <a:p>
            <a:pPr>
              <a:defRPr sz="1300" b="0">
                <a:solidFill>
                  <a:srgbClr val="EF5350"/>
                </a:solidFill>
              </a:defRPr>
            </a:pPr>
            <a:r>
              <a:t>Invalid/missing -&gt; AUTH_FAIL</a:t>
            </a:r>
          </a:p>
          <a:p>
            <a:pPr>
              <a:defRPr sz="800" b="0">
                <a:solidFill>
                  <a:srgbClr val="FFFFFF"/>
                </a:solidFill>
              </a:defRPr>
            </a:pPr>
          </a:p>
          <a:p>
            <a:pPr>
              <a:defRPr sz="1600" b="1">
                <a:solidFill>
                  <a:srgbClr val="389CF7"/>
                </a:solidFill>
              </a:defRPr>
            </a:pPr>
            <a:r>
              <a:t>Mitigation 2: Pose Consistency</a:t>
            </a:r>
          </a:p>
          <a:p>
            <a:pPr>
              <a:defRPr sz="1300" b="0">
                <a:solidFill>
                  <a:srgbClr val="A0A8B8"/>
                </a:solidFill>
              </a:defRPr>
            </a:pPr>
            <a:r>
              <a:t>check_pose() compares robot_pose against</a:t>
            </a:r>
          </a:p>
          <a:p>
            <a:pPr>
              <a:defRPr sz="1300" b="0">
                <a:solidFill>
                  <a:srgbClr val="A0A8B8"/>
                </a:solidFill>
              </a:defRPr>
            </a:pPr>
            <a:r>
              <a:t>expected_pose within tolerance (0.5 m).</a:t>
            </a:r>
          </a:p>
          <a:p>
            <a:pPr>
              <a:defRPr sz="1300" b="0">
                <a:solidFill>
                  <a:srgbClr val="EF5350"/>
                </a:solidFill>
              </a:defRPr>
            </a:pPr>
            <a:r>
              <a:t>Too far -&gt; LOCATION_MISMATCH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>
              <a:defRPr sz="1800" b="1">
                <a:solidFill>
                  <a:srgbClr val="FF9800"/>
                </a:solidFill>
              </a:defRPr>
            </a:pPr>
            <a:r>
              <a:t>Attack Demonstrations</a:t>
            </a:r>
          </a:p>
          <a:p>
            <a:pPr>
              <a:defRPr sz="600" b="0">
                <a:solidFill>
                  <a:srgbClr val="FFFFFF"/>
                </a:solidFill>
              </a:defRPr>
            </a:pPr>
          </a:p>
          <a:p>
            <a:pPr>
              <a:defRPr sz="1400" b="1">
                <a:solidFill>
                  <a:srgbClr val="EF5350"/>
                </a:solidFill>
              </a:defRPr>
            </a:pPr>
            <a:r>
              <a:t>spoof_marker_publish.py</a:t>
            </a:r>
          </a:p>
          <a:p>
            <a:pPr>
              <a:defRPr sz="1300" b="0">
                <a:solidFill>
                  <a:srgbClr val="A0A8B8"/>
                </a:solidFill>
              </a:defRPr>
            </a:pPr>
            <a:r>
              <a:t>Publishes forged StationMarker with invalid</a:t>
            </a:r>
          </a:p>
          <a:p>
            <a:pPr>
              <a:defRPr sz="1300" b="0">
                <a:solidFill>
                  <a:srgbClr val="A0A8B8"/>
                </a:solidFill>
              </a:defRPr>
            </a:pPr>
            <a:r>
              <a:t>HMAC -&gt; dispatcher rejects -&gt; AUTH_FAIL</a:t>
            </a:r>
          </a:p>
          <a:p>
            <a:pPr>
              <a:defRPr sz="800" b="0">
                <a:solidFill>
                  <a:srgbClr val="FFFFFF"/>
                </a:solidFill>
              </a:defRPr>
            </a:pPr>
          </a:p>
          <a:p>
            <a:pPr>
              <a:defRPr sz="1400" b="1">
                <a:solidFill>
                  <a:srgbClr val="EF5350"/>
                </a:solidFill>
              </a:defRPr>
            </a:pPr>
            <a:r>
              <a:t>location_mismatch_attack.py</a:t>
            </a:r>
          </a:p>
          <a:p>
            <a:pPr>
              <a:defRPr sz="1300" b="0">
                <a:solidFill>
                  <a:srgbClr val="A0A8B8"/>
                </a:solidFill>
              </a:defRPr>
            </a:pPr>
            <a:r>
              <a:t>Valid HMAC but pose [99, 99, 0] -&gt;</a:t>
            </a:r>
          </a:p>
          <a:p>
            <a:pPr>
              <a:defRPr sz="1300" b="0">
                <a:solidFill>
                  <a:srgbClr val="A0A8B8"/>
                </a:solidFill>
              </a:defRPr>
            </a:pPr>
            <a:r>
              <a:t>HMAC passes, pose fails -&gt; LOCATION_MISMATCH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</a:p>
          <a:p>
            <a:pPr>
              <a:defRPr sz="1800" b="1">
                <a:solidFill>
                  <a:srgbClr val="4CAF50"/>
                </a:solidFill>
              </a:defRPr>
            </a:pPr>
            <a:r>
              <a:t>Security Test: 3/3 PASS</a:t>
            </a:r>
          </a:p>
          <a:p>
            <a:pPr>
              <a:defRPr sz="600" b="0">
                <a:solidFill>
                  <a:srgbClr val="FFFFFF"/>
                </a:solidFill>
              </a:defRPr>
            </a:pPr>
          </a:p>
          <a:p>
            <a:pPr>
              <a:defRPr sz="1400" b="0">
                <a:solidFill>
                  <a:srgbClr val="FFFFFF"/>
                </a:solidFill>
              </a:defRPr>
            </a:pPr>
            <a:r>
              <a:t>  Valid marker dispatched + completed</a:t>
            </a:r>
          </a:p>
          <a:p>
            <a:pPr>
              <a:defRPr sz="1400" b="0">
                <a:solidFill>
                  <a:srgbClr val="FFFFFF"/>
                </a:solidFill>
              </a:defRPr>
            </a:pPr>
            <a:r>
              <a:t>  Spoofed HMAC rejected</a:t>
            </a:r>
          </a:p>
          <a:p>
            <a:pPr>
              <a:defRPr sz="1400" b="0">
                <a:solidFill>
                  <a:srgbClr val="FFFFFF"/>
                </a:solidFill>
              </a:defRPr>
            </a:pPr>
            <a:r>
              <a:t>  Location mismatch rejected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9CF7"/>
                </a:solidFill>
              </a:defRPr>
            </a:pPr>
            <a:r>
              <a:t>PHASE 3: GAZEBO SIMULATION &amp;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>
              <a:defRPr sz="1600" b="1">
                <a:solidFill>
                  <a:srgbClr val="389CF7"/>
                </a:solidFill>
              </a:defRPr>
            </a:pPr>
            <a:r>
              <a:t>Generated Facility</a:t>
            </a:r>
          </a:p>
          <a:p>
            <a:pPr>
              <a:defRPr sz="1300" b="0">
                <a:solidFill>
                  <a:srgbClr val="A0A8B8"/>
                </a:solidFill>
              </a:defRPr>
            </a:pPr>
            <a:r>
              <a:t>8.5m x 9.5m walled enclosure</a:t>
            </a:r>
          </a:p>
          <a:p>
            <a:pPr>
              <a:defRPr sz="1300" b="0">
                <a:solidFill>
                  <a:srgbClr val="A0A8B8"/>
                </a:solidFill>
              </a:defRPr>
            </a:pPr>
            <a:r>
              <a:t>4 perimeter bays with ArUco sign stacks</a:t>
            </a:r>
          </a:p>
          <a:p>
            <a:pPr>
              <a:defRPr sz="1300" b="0">
                <a:solidFill>
                  <a:srgbClr val="A0A8B8"/>
                </a:solidFill>
              </a:defRPr>
            </a:pPr>
            <a:r>
              <a:t>World SDF generated from station_registry.yaml</a:t>
            </a:r>
          </a:p>
          <a:p>
            <a:pPr>
              <a:defRPr sz="800" b="0">
                <a:solidFill>
                  <a:srgbClr val="FFFFFF"/>
                </a:solidFill>
              </a:defRPr>
            </a:pPr>
          </a:p>
          <a:p>
            <a:pPr>
              <a:defRPr sz="1600" b="1">
                <a:solidFill>
                  <a:srgbClr val="389CF7"/>
                </a:solidFill>
              </a:defRPr>
            </a:pPr>
            <a:r>
              <a:t>AMR Robot</a:t>
            </a:r>
          </a:p>
          <a:p>
            <a:pPr>
              <a:defRPr sz="1300" b="0">
                <a:solidFill>
                  <a:srgbClr val="A0A8B8"/>
                </a:solidFill>
              </a:defRPr>
            </a:pPr>
            <a:r>
              <a:t>0.40m x 0.30m diff-drive chassis</a:t>
            </a:r>
          </a:p>
          <a:p>
            <a:pPr>
              <a:defRPr sz="1300" b="0">
                <a:solidFill>
                  <a:srgbClr val="A0A8B8"/>
                </a:solidFill>
              </a:defRPr>
            </a:pPr>
            <a:r>
              <a:t>0.85m sensor mast with front camera</a:t>
            </a:r>
          </a:p>
          <a:p>
            <a:pPr>
              <a:defRPr sz="1300" b="0">
                <a:solidFill>
                  <a:srgbClr val="A0A8B8"/>
                </a:solidFill>
              </a:defRPr>
            </a:pPr>
            <a:r>
              <a:t>Camera height = marker board height</a:t>
            </a:r>
          </a:p>
          <a:p>
            <a:pPr>
              <a:defRPr sz="800" b="0">
                <a:solidFill>
                  <a:srgbClr val="FFFFFF"/>
                </a:solidFill>
              </a:defRPr>
            </a:pPr>
          </a:p>
          <a:p>
            <a:pPr>
              <a:defRPr sz="1600" b="1">
                <a:solidFill>
                  <a:srgbClr val="389CF7"/>
                </a:solidFill>
              </a:defRPr>
            </a:pPr>
            <a:r>
              <a:t>Navigation Stack (ROS-free)</a:t>
            </a:r>
          </a:p>
          <a:p>
            <a:pPr>
              <a:defRPr sz="1300" b="0">
                <a:solidFill>
                  <a:srgbClr val="A0A8B8"/>
                </a:solidFill>
              </a:defRPr>
            </a:pPr>
            <a:r>
              <a:t>planner.py: A* visibility-graph, 2 clearance layers</a:t>
            </a:r>
          </a:p>
          <a:p>
            <a:pPr>
              <a:defRPr sz="1300" b="0">
                <a:solidFill>
                  <a:srgbClr val="A0A8B8"/>
                </a:solidFill>
              </a:defRPr>
            </a:pPr>
            <a:r>
              <a:t>controller.py: turn-then-arc, proportional decel</a:t>
            </a:r>
          </a:p>
          <a:p>
            <a:pPr>
              <a:defRPr sz="1300" b="0">
                <a:solidFill>
                  <a:srgbClr val="A0A8B8"/>
                </a:solidFill>
              </a:defRPr>
            </a:pPr>
            <a:r>
              <a:t>StallWatchdog: &lt;4cm in 3s -&gt; reverse + replan</a:t>
            </a:r>
          </a:p>
          <a:p>
            <a:pPr>
              <a:defRPr sz="1300" b="0">
                <a:solidFill>
                  <a:srgbClr val="A0A8B8"/>
                </a:solidFill>
              </a:defRPr>
            </a:pPr>
            <a:r>
              <a:t>perception_budget.py: range gate via confidence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>
              <a:defRPr sz="1800" b="1">
                <a:solidFill>
                  <a:srgbClr val="FF9800"/>
                </a:solidFill>
              </a:defRPr>
            </a:pPr>
            <a:r>
              <a:t>Perception Budget</a:t>
            </a:r>
          </a:p>
          <a:p>
            <a:pPr>
              <a:defRPr sz="600" b="0">
                <a:solidFill>
                  <a:srgbClr val="FFFFFF"/>
                </a:solidFill>
              </a:defRPr>
            </a:pPr>
          </a:p>
          <a:p>
            <a:pPr>
              <a:defRPr sz="1300" b="0">
                <a:solidFill>
                  <a:srgbClr val="FFFFFF"/>
                </a:solidFill>
              </a:defRPr>
            </a:pPr>
            <a:r>
              <a:t>confidence = min(perimeter_px / 1200, 1.0)</a:t>
            </a:r>
          </a:p>
          <a:p>
            <a:pPr>
              <a:defRPr sz="600" b="0">
                <a:solidFill>
                  <a:srgbClr val="FFFFFF"/>
                </a:solidFill>
              </a:defRPr>
            </a:pPr>
          </a:p>
          <a:p>
            <a:pPr>
              <a:defRPr sz="1300" b="0">
                <a:solidFill>
                  <a:srgbClr val="4CAF50"/>
                </a:solidFill>
              </a:defRPr>
            </a:pPr>
            <a:r>
              <a:t>  1.50m (berth): 259px, 0.86  ACCEPT</a:t>
            </a:r>
          </a:p>
          <a:p>
            <a:pPr>
              <a:defRPr sz="1300" b="0">
                <a:solidFill>
                  <a:srgbClr val="FF9800"/>
                </a:solidFill>
              </a:defRPr>
            </a:pPr>
            <a:r>
              <a:t>  1.72m (gate):  226px, 0.75  ACCEPT</a:t>
            </a:r>
          </a:p>
          <a:p>
            <a:pPr>
              <a:defRPr sz="1300" b="0">
                <a:solidFill>
                  <a:srgbClr val="EF5350"/>
                </a:solidFill>
              </a:defRPr>
            </a:pPr>
            <a:r>
              <a:t>  1.90m:         204px, 0.68  REJECT</a:t>
            </a:r>
          </a:p>
          <a:p>
            <a:pPr>
              <a:defRPr sz="600" b="0">
                <a:solidFill>
                  <a:srgbClr val="FFFFFF"/>
                </a:solidFill>
              </a:defRPr>
            </a:pPr>
          </a:p>
          <a:p>
            <a:pPr>
              <a:defRPr sz="1400" b="0">
                <a:solidFill>
                  <a:srgbClr val="A0A8B8"/>
                </a:solidFill>
              </a:defRPr>
            </a:pPr>
            <a:r>
              <a:t>Board legible only from its own berth.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</a:p>
          <a:p>
            <a:pPr>
              <a:defRPr sz="1800" b="1">
                <a:solidFill>
                  <a:srgbClr val="4CAF50"/>
                </a:solidFill>
              </a:defRPr>
            </a:pPr>
            <a:r>
              <a:t>Navigation Test: 23/23 PASS</a:t>
            </a:r>
          </a:p>
          <a:p>
            <a:pPr>
              <a:defRPr sz="600" b="0">
                <a:solidFill>
                  <a:srgbClr val="FFFFFF"/>
                </a:solidFill>
              </a:defRPr>
            </a:pPr>
          </a:p>
          <a:p>
            <a:pPr>
              <a:defRPr sz="1400" b="0">
                <a:solidFill>
                  <a:srgbClr val="FFFFFF"/>
                </a:solidFill>
              </a:defRPr>
            </a:pPr>
            <a:r>
              <a:t>  17/17 planner + perception regressions</a:t>
            </a:r>
          </a:p>
          <a:p>
            <a:pPr>
              <a:defRPr sz="1400" b="0">
                <a:solidFill>
                  <a:srgbClr val="FFFFFF"/>
                </a:solidFill>
              </a:defRPr>
            </a:pPr>
            <a:r>
              <a:t>  6/6 offline tour simulation</a:t>
            </a:r>
          </a:p>
          <a:p>
            <a:pPr>
              <a:defRPr sz="1400" b="0">
                <a:solidFill>
                  <a:srgbClr val="FFFFFF"/>
                </a:solidFill>
              </a:defRPr>
            </a:pPr>
            <a:r>
              <a:t>  0 obstacle contacts, 0.528m min clearance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9CF7"/>
                </a:solidFill>
              </a:defRPr>
            </a:pPr>
            <a:r>
              <a:t>FULL TOUR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800"/>
                </a:solidFill>
              </a:defRPr>
            </a:pPr>
            <a:r>
              <a:t>Station Arrival Log (Gazebo /odom)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Target Coords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Arrived 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Inspection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[1.00, 2.00]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[0.95, 2.21]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0.219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CAF50"/>
                          </a:solidFill>
                        </a:defRPr>
                      </a:pPr>
                      <a:r>
                        <a:t>DISPATCHED -&gt; COMPLETED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Assembly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[4.50, 1.00]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[4.31, 1.10]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0.217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CAF50"/>
                          </a:solidFill>
                        </a:defRPr>
                      </a:pPr>
                      <a:r>
                        <a:t>DISPATCHED -&gt; COMPLETED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[4.50, 5.00]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[4.49, 4.78]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0.217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CAF50"/>
                          </a:solidFill>
                        </a:defRPr>
                      </a:pPr>
                      <a:r>
                        <a:t>DISPATCHED -&gt; COMPLETED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Charging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[0.50, 5.50]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[0.72, 5.48]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0.219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CAF50"/>
                          </a:solidFill>
                        </a:defRPr>
                      </a:pPr>
                      <a:r>
                        <a:t>DISPATCHED -&gt; COMPLETED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720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8B8"/>
                </a:solidFill>
              </a:defRPr>
            </a:pPr>
            <a:r>
              <a:t>All 4 stations visited, all tasks DISPATCHED and COMPLETED.</a:t>
            </a:r>
            <a:br/>
            <a:r>
              <a:t>5 test suites: from 1-second ROS-free regression to full 2-minute Gazebo demo.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9CF7"/>
                </a:solidFill>
              </a:defRPr>
            </a:pPr>
            <a:r>
              <a:t>CHALLENGES &amp; LESSONS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>
              <a:defRPr sz="1600" b="1">
                <a:solidFill>
                  <a:srgbClr val="EF5350"/>
                </a:solidFill>
              </a:defRPr>
            </a:pPr>
            <a:r>
              <a:t>1. CMake Target Collision</a:t>
            </a:r>
          </a:p>
          <a:p>
            <a:pPr>
              <a:defRPr sz="1300" b="0">
                <a:solidFill>
                  <a:srgbClr val="A0A8B8"/>
                </a:solidFill>
              </a:defRPr>
            </a:pPr>
            <a:r>
              <a:t>rosidl + ament_python_install_package() conflict.</a:t>
            </a:r>
          </a:p>
          <a:p>
            <a:pPr>
              <a:defRPr sz="1300" b="0">
                <a:solidFill>
                  <a:srgbClr val="4CAF50"/>
                </a:solidFill>
              </a:defRPr>
            </a:pPr>
            <a:r>
              <a:t>Fix: install(DIRECTORY) into site-packages.</a:t>
            </a:r>
          </a:p>
          <a:p>
            <a:pPr>
              <a:defRPr sz="800" b="0">
                <a:solidFill>
                  <a:srgbClr val="FFFFFF"/>
                </a:solidFill>
              </a:defRPr>
            </a:pPr>
          </a:p>
          <a:p>
            <a:pPr>
              <a:defRPr sz="1600" b="1">
                <a:solidFill>
                  <a:srgbClr val="EF5350"/>
                </a:solidFill>
              </a:defRPr>
            </a:pPr>
            <a:r>
              <a:t>2. Open-Loop False Successes</a:t>
            </a:r>
          </a:p>
          <a:p>
            <a:pPr>
              <a:defRPr sz="1300" b="0">
                <a:solidFill>
                  <a:srgbClr val="A0A8B8"/>
                </a:solidFill>
              </a:defRPr>
            </a:pPr>
            <a:r>
              <a:t>Robot drove straight, logs showed 4/4 PASS.</a:t>
            </a:r>
          </a:p>
          <a:p>
            <a:pPr>
              <a:defRPr sz="1300" b="0">
                <a:solidFill>
                  <a:srgbClr val="4CAF50"/>
                </a:solidFill>
              </a:defRPr>
            </a:pPr>
            <a:r>
              <a:t>Fix: closed-loop P-controller using /odom.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>
              <a:defRPr sz="1600" b="1">
                <a:solidFill>
                  <a:srgbClr val="EF5350"/>
                </a:solidFill>
              </a:defRPr>
            </a:pPr>
            <a:r>
              <a:t>3. Marker Panel Collision (4 defects)</a:t>
            </a:r>
          </a:p>
          <a:p>
            <a:pPr>
              <a:defRPr sz="1300" b="0">
                <a:solidFill>
                  <a:srgbClr val="A0A8B8"/>
                </a:solidFill>
              </a:defRPr>
            </a:pPr>
            <a:r>
              <a:t>Robot wedged into Assembly panel, reported success.</a:t>
            </a:r>
          </a:p>
          <a:p>
            <a:pPr>
              <a:defRPr sz="1200" b="0">
                <a:solidFill>
                  <a:srgbClr val="A0A8B8"/>
                </a:solidFill>
              </a:defRPr>
            </a:pPr>
            <a:r>
              <a:t>Layout: panels in driving path</a:t>
            </a:r>
          </a:p>
          <a:p>
            <a:pPr>
              <a:defRPr sz="1200" b="0">
                <a:solidFill>
                  <a:srgbClr val="A0A8B8"/>
                </a:solidFill>
              </a:defRPr>
            </a:pPr>
            <a:r>
              <a:t>Planning: no obstacle awareness</a:t>
            </a:r>
          </a:p>
          <a:p>
            <a:pPr>
              <a:defRPr sz="1200" b="0">
                <a:solidFill>
                  <a:srgbClr val="A0A8B8"/>
                </a:solidFill>
              </a:defRPr>
            </a:pPr>
            <a:r>
              <a:t>Control: no stall detection</a:t>
            </a:r>
          </a:p>
          <a:p>
            <a:pPr>
              <a:defRPr sz="1200" b="0">
                <a:solidFill>
                  <a:srgbClr val="A0A8B8"/>
                </a:solidFill>
              </a:defRPr>
            </a:pPr>
            <a:r>
              <a:t>Reporting: timeout = success</a:t>
            </a:r>
          </a:p>
          <a:p>
            <a:pPr>
              <a:defRPr sz="600" b="0">
                <a:solidFill>
                  <a:srgbClr val="FFFFFF"/>
                </a:solidFill>
              </a:defRPr>
            </a:pPr>
          </a:p>
          <a:p>
            <a:pPr>
              <a:defRPr sz="1300" b="0">
                <a:solidFill>
                  <a:srgbClr val="4CAF50"/>
                </a:solidFill>
              </a:defRPr>
            </a:pPr>
            <a:r>
              <a:t>Fix: single source of truth, A* planner,</a:t>
            </a:r>
          </a:p>
          <a:p>
            <a:pPr>
              <a:defRPr sz="1300" b="0">
                <a:solidFill>
                  <a:srgbClr val="4CAF50"/>
                </a:solidFill>
              </a:defRPr>
            </a:pPr>
            <a:r>
              <a:t>stall watchdog, honest reporting.</a:t>
            </a:r>
          </a:p>
          <a:p>
            <a:pPr>
              <a:defRPr sz="800" b="0">
                <a:solidFill>
                  <a:srgbClr val="FFFFFF"/>
                </a:solidFill>
              </a:defRPr>
            </a:pPr>
          </a:p>
          <a:p>
            <a:pPr>
              <a:defRPr sz="1600" b="1">
                <a:solidFill>
                  <a:srgbClr val="EF5350"/>
                </a:solidFill>
              </a:defRPr>
            </a:pPr>
            <a:r>
              <a:t>4. Signage Collision Geometry</a:t>
            </a:r>
          </a:p>
          <a:p>
            <a:pPr>
              <a:defRPr sz="1300" b="0">
                <a:solidFill>
                  <a:srgbClr val="A0A8B8"/>
                </a:solidFill>
              </a:defRPr>
            </a:pPr>
            <a:r>
              <a:t>Decorative posts too close to stopping pose.</a:t>
            </a:r>
          </a:p>
          <a:p>
            <a:pPr>
              <a:defRPr sz="1300" b="0">
                <a:solidFill>
                  <a:srgbClr val="4CAF50"/>
                </a:solidFill>
              </a:defRPr>
            </a:pPr>
            <a:r>
              <a:t>Fix: ultra-thin collision (0.01m depth).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9CF7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Complete, tested AMR dispatch system delivered: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Phase 1: Working perception -&gt; dispatch -&gt; execution pipeline with custom ROS 2 interfaces, FSM, and JSONL event logging.</a:t>
            </a:r>
          </a:p>
          <a:p>
            <a:pPr>
              <a:defRPr sz="600" b="0">
                <a:solidFill>
                  <a:srgbClr val="FFFFFF"/>
                </a:solidFill>
              </a:defRPr>
            </a:pP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Phase 2: HMAC-SHA256 auth + pose consistency reject forged/replayed messages. Two attack scripts demonstrate both rejection paths.</a:t>
            </a:r>
          </a:p>
          <a:p>
            <a:pPr>
              <a:defRPr sz="600" b="0">
                <a:solidFill>
                  <a:srgbClr val="FFFFFF"/>
                </a:solidFill>
              </a:defRPr>
            </a:pP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Phase 3: Obstacle-aware A* navigation in generated Gazebo facility with stall watchdog, closed-loop control, and automatic recovery.</a:t>
            </a:r>
          </a:p>
          <a:p>
            <a:pPr>
              <a:defRPr sz="600" b="0">
                <a:solidFill>
                  <a:srgbClr val="FFFFFF"/>
                </a:solidFill>
              </a:defRPr>
            </a:pP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Single source of truth (station_registry.yaml) eliminates geometry disagreements between simulator, planner, and security.</a:t>
            </a:r>
          </a:p>
          <a:p>
            <a:pPr>
              <a:defRPr sz="600" b="0">
                <a:solidFill>
                  <a:srgbClr val="FFFFFF"/>
                </a:solidFill>
              </a:defRPr>
            </a:pP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5 test suites verify every layer independently.</a:t>
            </a:r>
          </a:p>
          <a:p>
            <a:pPr>
              <a:defRPr sz="1400" b="0">
                <a:solidFill>
                  <a:srgbClr val="FFFFFF"/>
                </a:solidFill>
              </a:defRPr>
            </a:pPr>
          </a:p>
          <a:p>
            <a:pPr>
              <a:defRPr sz="1800" b="1">
                <a:solidFill>
                  <a:srgbClr val="389CF7"/>
                </a:solidFill>
              </a:defRPr>
            </a:pPr>
            <a:r>
              <a:t>github.com/Amin-Ahmed-G/secure_station_dispatch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